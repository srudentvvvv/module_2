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320040" cy="32004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371600"/>
            <a:ext cx="201168" cy="201168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457200"/>
            <a:ext cx="164592" cy="164592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5303520"/>
            <a:ext cx="365760" cy="36576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6035040"/>
            <a:ext cx="256032" cy="256032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6309360"/>
            <a:ext cx="182880" cy="18288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640080"/>
            <a:ext cx="228600" cy="22860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0" y="1371600"/>
            <a:ext cx="164592" cy="164592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5943600"/>
            <a:ext cx="274320" cy="27432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63040" y="6309360"/>
            <a:ext cx="164592" cy="164592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194560"/>
            <a:ext cx="54864" cy="2468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ПРЕЗЕНТАЦІЯ ПРОЄКТУ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606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 об'єктів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1143000" y="3520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основі мережі Кохонена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143000" y="4572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Інтелектуальне рішення для аналізу та кластеризації даних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базі самоорганізаційної карти (SOM)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143000" y="5806440"/>
            <a:ext cx="36576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1325880" y="5760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Презентаційний матеріал для замовника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Версія 1.0 • Десктопний додаток • Python / Tkinter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та потреби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ринок потребує нашого рішення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206240" cy="45720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4572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659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сучасних задачах аналізу даних замовники щодня працюють з масивами багатовимірних спостережень — клієнтів, зразків, виробів, документів.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Виявити структуру таких даних «на око» практично неможливо, а класичні методи потребують заздалегідь розмічених прикладів, яких часто немає.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37760" y="1691640"/>
            <a:ext cx="3337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691640"/>
            <a:ext cx="64008" cy="214884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2" name="Shape 9"/>
          <p:cNvSpPr/>
          <p:nvPr/>
        </p:nvSpPr>
        <p:spPr>
          <a:xfrm>
            <a:off x="5212080" y="1965960"/>
            <a:ext cx="640080" cy="640080"/>
          </a:xfrm>
          <a:prstGeom prst="ellipse">
            <a:avLst/>
          </a:prstGeom>
          <a:solidFill>
            <a:srgbClr val="0F4C81">
              <a:alpha val="15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207568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Прихована структура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21208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Великі обсяги даних без явних міток та категорій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458200" y="1691640"/>
            <a:ext cx="3337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58200" y="1691640"/>
            <a:ext cx="64008" cy="2148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4"/>
          <p:cNvSpPr/>
          <p:nvPr/>
        </p:nvSpPr>
        <p:spPr>
          <a:xfrm>
            <a:off x="8732520" y="1965960"/>
            <a:ext cx="640080" cy="64008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8" y="2075688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32520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Ручна класифікація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73252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Повільна, суб'єктивна та схильна до помилок експертів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937760" y="4023360"/>
            <a:ext cx="3337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37760" y="4023360"/>
            <a:ext cx="64008" cy="2148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19"/>
          <p:cNvSpPr/>
          <p:nvPr/>
        </p:nvSpPr>
        <p:spPr>
          <a:xfrm>
            <a:off x="5212080" y="4297680"/>
            <a:ext cx="640080" cy="64008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4407408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12080" y="5029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Багатовимірність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212080" y="54406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ознак на один об'єкт — складно візуалізувати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458200" y="4023360"/>
            <a:ext cx="33375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458200" y="4023360"/>
            <a:ext cx="64008" cy="21488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Shape 24"/>
          <p:cNvSpPr/>
          <p:nvPr/>
        </p:nvSpPr>
        <p:spPr>
          <a:xfrm>
            <a:off x="8732520" y="4297680"/>
            <a:ext cx="640080" cy="640080"/>
          </a:xfrm>
          <a:prstGeom prst="ellipse">
            <a:avLst/>
          </a:prstGeom>
          <a:solidFill>
            <a:srgbClr val="B91C1C">
              <a:alpha val="15000"/>
            </a:srgbClr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2248" y="4407408"/>
            <a:ext cx="420624" cy="4206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732520" y="5029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Залежність від експерта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8732520" y="54406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Бракує розмічених навчальних вибірок для класичних методів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 об'єктів • Мережа Кохонена (SOM)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 рішення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Десктопний додаток на базі самоорганізаційної карти Кохонена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92840" cy="141732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00200"/>
            <a:ext cx="91440" cy="14173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7830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 без учителя — без потреби в розмічених даних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874520" y="23317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Мережа Кохонена самостійно знаходить структуру у багатовимірних даних і проєктує її на наочну 2D-карту, готову для інтерпретації бізнес-користувачем.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24612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324612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0B1E3F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35204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" y="4206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Завантаження даних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31520" y="4709160"/>
            <a:ext cx="548640" cy="228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3"/>
          <p:cNvSpPr/>
          <p:nvPr/>
        </p:nvSpPr>
        <p:spPr>
          <a:xfrm>
            <a:off x="731520" y="4846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Підготовка датасету та нормалізація ознак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319272" y="324612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319272" y="324612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6"/>
          <p:cNvSpPr/>
          <p:nvPr/>
        </p:nvSpPr>
        <p:spPr>
          <a:xfrm>
            <a:off x="3593592" y="3520440"/>
            <a:ext cx="502920" cy="502920"/>
          </a:xfrm>
          <a:prstGeom prst="ellipse">
            <a:avLst/>
          </a:prstGeom>
          <a:solidFill>
            <a:srgbClr val="0B1E3F"/>
          </a:solidFill>
          <a:ln/>
        </p:spPr>
      </p:sp>
      <p:sp>
        <p:nvSpPr>
          <p:cNvPr id="21" name="Text 17"/>
          <p:cNvSpPr/>
          <p:nvPr/>
        </p:nvSpPr>
        <p:spPr>
          <a:xfrm>
            <a:off x="3593592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352044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593592" y="4206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Навчання SOM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3593592" y="4709160"/>
            <a:ext cx="548640" cy="228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0"/>
          <p:cNvSpPr/>
          <p:nvPr/>
        </p:nvSpPr>
        <p:spPr>
          <a:xfrm>
            <a:off x="3593592" y="4846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Ітеративне оновлення ваг з затуханням lr і радіусу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324612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181344" y="324612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Shape 23"/>
          <p:cNvSpPr/>
          <p:nvPr/>
        </p:nvSpPr>
        <p:spPr>
          <a:xfrm>
            <a:off x="6455664" y="3520440"/>
            <a:ext cx="502920" cy="502920"/>
          </a:xfrm>
          <a:prstGeom prst="ellipse">
            <a:avLst/>
          </a:prstGeom>
          <a:solidFill>
            <a:srgbClr val="0B1E3F"/>
          </a:solidFill>
          <a:ln/>
        </p:spPr>
      </p:sp>
      <p:sp>
        <p:nvSpPr>
          <p:cNvPr id="29" name="Text 24"/>
          <p:cNvSpPr/>
          <p:nvPr/>
        </p:nvSpPr>
        <p:spPr>
          <a:xfrm>
            <a:off x="6455664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4" y="3520440"/>
            <a:ext cx="502920" cy="5029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455664" y="4206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Візуалізація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6455664" y="4709160"/>
            <a:ext cx="548640" cy="228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27"/>
          <p:cNvSpPr/>
          <p:nvPr/>
        </p:nvSpPr>
        <p:spPr>
          <a:xfrm>
            <a:off x="6455664" y="4846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U-matrix, Hit map, карта класів, графік помилки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9043416" y="3246120"/>
            <a:ext cx="26974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9043416" y="324612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Shape 30"/>
          <p:cNvSpPr/>
          <p:nvPr/>
        </p:nvSpPr>
        <p:spPr>
          <a:xfrm>
            <a:off x="9317736" y="3520440"/>
            <a:ext cx="502920" cy="502920"/>
          </a:xfrm>
          <a:prstGeom prst="ellipse">
            <a:avLst/>
          </a:prstGeom>
          <a:solidFill>
            <a:srgbClr val="0B1E3F"/>
          </a:solidFill>
          <a:ln/>
        </p:spPr>
      </p:sp>
      <p:sp>
        <p:nvSpPr>
          <p:cNvPr id="37" name="Text 31"/>
          <p:cNvSpPr/>
          <p:nvPr/>
        </p:nvSpPr>
        <p:spPr>
          <a:xfrm>
            <a:off x="9317736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6496" y="3520440"/>
            <a:ext cx="502920" cy="50292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317736" y="4206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Звіт і рішення</a:t>
            </a:r>
            <a:endParaRPr lang="en-US" sz="1500" dirty="0"/>
          </a:p>
        </p:txBody>
      </p:sp>
      <p:sp>
        <p:nvSpPr>
          <p:cNvPr id="40" name="Shape 33"/>
          <p:cNvSpPr/>
          <p:nvPr/>
        </p:nvSpPr>
        <p:spPr>
          <a:xfrm>
            <a:off x="9317736" y="4709160"/>
            <a:ext cx="548640" cy="228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4"/>
          <p:cNvSpPr/>
          <p:nvPr/>
        </p:nvSpPr>
        <p:spPr>
          <a:xfrm>
            <a:off x="9317736" y="484632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PNG-графіки та текстовий звіт з метриками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 об'єктів • Мережа Кохонена (SOM)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це працює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 системи та потоки даних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0350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03504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27632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Модульна архітектура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27889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3172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377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kohonen.py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234440" y="26243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SOM: ваги, BMU, затухання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520440" y="2331720"/>
            <a:ext cx="27889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0440" y="233172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4688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14800" y="23774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data_loader.py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114800" y="26243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Завантаження та підготовка датасету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40080" y="3566160"/>
            <a:ext cx="27889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" y="356616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033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3611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gui.py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234440" y="38587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Інтерфейс Tkinter, вкладки візуалізації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520440" y="3566160"/>
            <a:ext cx="27889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520440" y="356616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70332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114800" y="3611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report.py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114800" y="38587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Графіки PNG та текстовий звіт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40080" y="4800600"/>
            <a:ext cx="27889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0080" y="480060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93776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34440" y="4846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config_manager.py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234440" y="5093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Зовнішній файл config.json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3520440" y="4800600"/>
            <a:ext cx="27889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520440" y="480060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3320" y="493776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114800" y="4846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logger_setup.py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4114800" y="5093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подій output/app.log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6675120" y="1600200"/>
            <a:ext cx="5074920" cy="4663440"/>
          </a:xfrm>
          <a:prstGeom prst="rect">
            <a:avLst/>
          </a:prstGeom>
          <a:solidFill>
            <a:srgbClr val="0B1E3F"/>
          </a:solidFill>
          <a:ln/>
          <a:effectLst>
            <a:outerShdw sx="100000" sy="100000" kx="0" ky="0" algn="bl" rotWithShape="0" blurRad="152400" dist="38100" dir="5400000">
              <a:srgbClr val="000000">
                <a:alpha val="15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6903720" y="17830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показники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6903720" y="2331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4400" dirty="0"/>
          </a:p>
        </p:txBody>
      </p:sp>
      <p:sp>
        <p:nvSpPr>
          <p:cNvPr id="41" name="Text 33"/>
          <p:cNvSpPr/>
          <p:nvPr/>
        </p:nvSpPr>
        <p:spPr>
          <a:xfrm>
            <a:off x="8503920" y="2468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unit-тестів покривають усі модулі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6903720" y="3611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43" name="Text 35"/>
          <p:cNvSpPr/>
          <p:nvPr/>
        </p:nvSpPr>
        <p:spPr>
          <a:xfrm>
            <a:off x="8503920" y="3749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 візуалізації: U-matrix, Hit map, карта класів, графік помилки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6903720" y="48920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45" name="Text 37"/>
          <p:cNvSpPr/>
          <p:nvPr/>
        </p:nvSpPr>
        <p:spPr>
          <a:xfrm>
            <a:off x="8503920" y="5029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 робота — без передачі даних у хмару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 об'єктів • Мережа Кохонена (SOM)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Переваги нашого ПЗ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отримує замовник, обираючи наше рішення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777240" cy="77724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67128"/>
            <a:ext cx="466344" cy="4663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Самонавчання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77240" y="2926080"/>
            <a:ext cx="36576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0632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Працює без розмічених даних — економія на ручній підготовці датасетів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169164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36008" y="2011680"/>
            <a:ext cx="777240" cy="77724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167128"/>
            <a:ext cx="466344" cy="4663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0408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Наочна візуалізація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4636008" y="2926080"/>
            <a:ext cx="36576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4636008" y="30632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Багатовимірні дані стають зрозумілими 2D-картами для бізнес-користувача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74736" y="1691640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94776" y="2011680"/>
            <a:ext cx="777240" cy="77724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167128"/>
            <a:ext cx="466344" cy="4663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409176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Гнучке налаштування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8494776" y="2926080"/>
            <a:ext cx="36576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17"/>
          <p:cNvSpPr/>
          <p:nvPr/>
        </p:nvSpPr>
        <p:spPr>
          <a:xfrm>
            <a:off x="8494776" y="30632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Розмір карти, епохи, learning rate, радіус сусідства через GUI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224528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77240" y="4544568"/>
            <a:ext cx="777240" cy="77724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00016"/>
            <a:ext cx="466344" cy="4663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46360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Безпека даних</a:t>
            </a:r>
            <a:endParaRPr lang="en-US" sz="1700" dirty="0"/>
          </a:p>
        </p:txBody>
      </p:sp>
      <p:sp>
        <p:nvSpPr>
          <p:cNvPr id="27" name="Shape 21"/>
          <p:cNvSpPr/>
          <p:nvPr/>
        </p:nvSpPr>
        <p:spPr>
          <a:xfrm>
            <a:off x="777240" y="5458968"/>
            <a:ext cx="36576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2"/>
          <p:cNvSpPr/>
          <p:nvPr/>
        </p:nvSpPr>
        <p:spPr>
          <a:xfrm>
            <a:off x="777240" y="55961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Повністю локальний десктоп: дані не залишають комп'ютер користувача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15968" y="4224528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36008" y="4544568"/>
            <a:ext cx="777240" cy="77724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700016"/>
            <a:ext cx="466344" cy="4663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550408" y="46360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Якість, що перевірена</a:t>
            </a:r>
            <a:endParaRPr lang="en-US" sz="1700" dirty="0"/>
          </a:p>
        </p:txBody>
      </p:sp>
      <p:sp>
        <p:nvSpPr>
          <p:cNvPr id="33" name="Shape 26"/>
          <p:cNvSpPr/>
          <p:nvPr/>
        </p:nvSpPr>
        <p:spPr>
          <a:xfrm>
            <a:off x="4636008" y="5458968"/>
            <a:ext cx="36576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27"/>
          <p:cNvSpPr/>
          <p:nvPr/>
        </p:nvSpPr>
        <p:spPr>
          <a:xfrm>
            <a:off x="4636008" y="55961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unit-тести покривають нормальні, граничні та виняткові ситуації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174736" y="4224528"/>
            <a:ext cx="36576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494776" y="4544568"/>
            <a:ext cx="777240" cy="77724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4700016"/>
            <a:ext cx="466344" cy="4663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409176" y="46360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звіти</a:t>
            </a:r>
            <a:endParaRPr lang="en-US" sz="1700" dirty="0"/>
          </a:p>
        </p:txBody>
      </p:sp>
      <p:sp>
        <p:nvSpPr>
          <p:cNvPr id="39" name="Shape 31"/>
          <p:cNvSpPr/>
          <p:nvPr/>
        </p:nvSpPr>
        <p:spPr>
          <a:xfrm>
            <a:off x="8494776" y="5458968"/>
            <a:ext cx="365760" cy="274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2"/>
          <p:cNvSpPr/>
          <p:nvPr/>
        </p:nvSpPr>
        <p:spPr>
          <a:xfrm>
            <a:off x="8494776" y="559612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Автоматичне формування PNG-графіків і текстового report.txt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 об'єктів • Мережа Кохонена (SOM)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Технічні особливості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з типовими альтернативами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92840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2560320"/>
                <a:gridCol w="256032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Критерій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Ручна класифікація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Хмарні AI-сервіси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Наше рішення (SOM)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Вимагає розмічених даних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Локальне зберігання даних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Швидкість аналізу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Низька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Висока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Висока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Прозорість результату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Висока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Низька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Висока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Регулярна вартість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Зарплати експертів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Підписка / запити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Відсутня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49240"/>
            <a:ext cx="11292840" cy="914400"/>
          </a:xfrm>
          <a:prstGeom prst="rect">
            <a:avLst/>
          </a:prstGeom>
          <a:solidFill>
            <a:srgbClr val="0B1E3F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5349240"/>
            <a:ext cx="914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440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Підсумок: </a:t>
            </a:r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 ПЗ поєднує переваги ручного аналізу (прозорість, контроль) із швидкістю автоматики — без щомісячних витрат і без витоку даних.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 об'єктів • Мережа Кохонена (SOM)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630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Вимоги до застосування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 впровадження • підготовка кадрів • технічне обладнання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3657600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96596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965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 впровадження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73736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Мінімальна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" y="3291840"/>
            <a:ext cx="3154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ПЗ постачається готовим до встановлення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залежності — open-source (NumPy, Matplotlib, scikit-learn)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 ліцензійні платежі за бібліотеки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підписок, оплати за обсяг даних чи запитів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Витрати — лише на разову інсталяцію та інтеграцію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79392" y="1691640"/>
            <a:ext cx="365760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79392" y="1691640"/>
            <a:ext cx="3657600" cy="141732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4" name="Shape 11"/>
          <p:cNvSpPr/>
          <p:nvPr/>
        </p:nvSpPr>
        <p:spPr>
          <a:xfrm>
            <a:off x="4553712" y="196596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14884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59552" y="1965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Підготовка кадрів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559552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робочий день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553712" y="3291840"/>
            <a:ext cx="3154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Інтуїтивний інтерфейс Tkinter із вкладками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змінюються через GUI — без коду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Інструкція користувача входить у комплект постачання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рівень — оператор-аналітик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подій (app.log) спрощує підтримку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01584" y="1691640"/>
            <a:ext cx="365760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01584" y="1691640"/>
            <a:ext cx="3657600" cy="1417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Shape 17"/>
          <p:cNvSpPr/>
          <p:nvPr/>
        </p:nvSpPr>
        <p:spPr>
          <a:xfrm>
            <a:off x="8375904" y="196596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14884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381744" y="1965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Технічне обладнання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9381744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Звичайний ПК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8375904" y="3291840"/>
            <a:ext cx="31546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ОС: Windows / macOS / Linux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або новіший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Оперативна пам'ять: від 4 ГБ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потребує GPU чи спеціалізованих серверів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Працює офлайн на стандартному офісному ПК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 об'єктів • Мережа Кохонена (SOM)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92608" cy="292608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280160"/>
            <a:ext cx="182880" cy="18288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640080"/>
            <a:ext cx="256032" cy="256032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1371600"/>
            <a:ext cx="182880" cy="18288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943600"/>
            <a:ext cx="256032" cy="256032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0" y="5943600"/>
            <a:ext cx="310896" cy="310896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457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11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Готове рішення —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ризиків і без зайвих витрат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914400" y="443484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434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Низький бар'єр входу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97280" y="4892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робочий ПК, день навчання, без хмари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443484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4434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Прозорий результат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00600" y="4892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U-matrix, Hit map і текстовий звіт для рішень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21040" y="443484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434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над даними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03920" y="4892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Локальне зберігання, без витоку конфіденційних відомостей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6263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Дякуємо за увагу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Класифікація на основі мережі Кохонена</dc:title>
  <dc:subject>PptxGenJS Presentation</dc:subject>
  <dc:creator>Проєктна команда</dc:creator>
  <cp:lastModifiedBy>Проєктна команда</cp:lastModifiedBy>
  <cp:revision>1</cp:revision>
  <dcterms:created xsi:type="dcterms:W3CDTF">2026-05-14T20:23:34Z</dcterms:created>
  <dcterms:modified xsi:type="dcterms:W3CDTF">2026-05-14T20:23:34Z</dcterms:modified>
</cp:coreProperties>
</file>